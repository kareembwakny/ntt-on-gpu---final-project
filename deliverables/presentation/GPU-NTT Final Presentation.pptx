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  <p:sldId id="264" r:id="rId15"/>
    <p:sldId id="263" r:id="rId14"/>
    <p:sldId id="262" r:id="rId13"/>
    <p:sldId id="261" r:id="rId12"/>
    <p:sldId id="260" r:id="rId11"/>
    <p:sldId id="259" r:id="rId10"/>
    <p:sldId id="258" r:id="rId9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9.xml"/><Relationship Id="rId9" Type="http://schemas.openxmlformats.org/officeDocument/2006/relationships/slide" Target="slides/slide8.xml"/><Relationship Id="rId10" Type="http://schemas.openxmlformats.org/officeDocument/2006/relationships/slide" Target="slides/slide7.xml"/><Relationship Id="rId11" Type="http://schemas.openxmlformats.org/officeDocument/2006/relationships/slide" Target="slides/slide6.xml"/><Relationship Id="rId12" Type="http://schemas.openxmlformats.org/officeDocument/2006/relationships/slide" Target="slides/slide5.xml"/><Relationship Id="rId13" Type="http://schemas.openxmlformats.org/officeDocument/2006/relationships/slide" Target="slides/slide4.xml"/><Relationship Id="rId14" Type="http://schemas.openxmlformats.org/officeDocument/2006/relationships/slide" Target="slides/slide3.xml"/><Relationship Id="rId15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7663B-01EE-4D27-B6B8-967932AFFB1A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04E83-3A76-47C2-B23E-88D5C2E17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18D1-F151-4A1A-AFA6-1FCB5125A92E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0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F67C-1AAC-41A5-BA08-7B0723E42167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2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5C26D-52F0-48CD-A26B-03EAFD2B9DF3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BBECA-3C0A-4CD9-9812-4FBF50F0829F}" type="datetime1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1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F0E8-360B-4BB4-8873-CE1C24987C49}" type="datetime1">
              <a:rPr lang="en-US" smtClean="0"/>
              <a:t>12/15/2021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9C237-DA93-4873-9F13-2D421E4D5784}" type="datetime1">
              <a:rPr lang="en-US" smtClean="0"/>
              <a:t>12/15/2021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3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12/15/2021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2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E89D-0E68-4F88-8280-A11E17E07B1E}" type="datetime1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6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0482-3831-4044-A267-EC94C1533077}" type="datetime1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5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2360F-72F0-40E4-9497-E500D92B1CFF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6CB8-DFD9-47B7-B7FB-CD991A84E186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12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8A5E2-79BB-466B-93AD-FE62946A96F1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 wrap="square">
            <a:normAutofit fontScale="90000"/>
          </a:bodyPr>
          <a:lstStyle/>
          <a:p>
            <a:pPr algn="l"/>
            <a:r>
              <a:rPr b="1" sz="3000">
                <a:solidFill>
                  <a:srgbClr val="14305C"/>
                </a:solidFill>
                <a:latin typeface="Calibri"/>
              </a:rPr>
              <a:t>GPU-Accelerated Number Theoretic Transform (NTT)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14400" y="2103120"/>
            <a:ext cx="10332720" cy="3840480"/>
          </a:xfrm>
        </p:spPr>
        <p:txBody>
          <a:bodyPr wrap="square" anchor="t"/>
          <a:lstStyle/>
          <a:p>
            <a:pPr algn="ctr">
              <a:spcAft>
                <a:spcPts val="1800"/>
              </a:spcAft>
              <a:buNone/>
            </a:pPr>
            <a:r>
              <a:rPr sz="2200" b="1">
                <a:solidFill>
                  <a:srgbClr val="1C8A8A"/>
                </a:solidFill>
                <a:latin typeface="Calibri"/>
              </a:rPr>
              <a:t>Architecture-aware CUDA kernels on the NVIDIA RTX 2080 Ti</a:t>
            </a:r>
          </a:p>
          <a:p>
            <a:pPr algn="ctr">
              <a:spcAft>
                <a:spcPts val="600"/>
              </a:spcAft>
              <a:buNone/>
            </a:pPr>
            <a:r>
              <a:rPr sz="2400" b="1">
                <a:solidFill>
                  <a:srgbClr val="14305C"/>
                </a:solidFill>
                <a:latin typeface="Calibri"/>
              </a:rPr>
              <a:t>Kareem Bwakny    ·    Hakeem Najjar</a:t>
            </a:r>
          </a:p>
          <a:p>
            <a:pPr algn="ctr">
              <a:spcAft>
                <a:spcPts val="1800"/>
              </a:spcAft>
              <a:buNone/>
            </a:pPr>
            <a:r>
              <a:rPr sz="1800" b="0">
                <a:solidFill>
                  <a:srgbClr val="555B66"/>
                </a:solidFill>
                <a:latin typeface="Calibri"/>
              </a:rPr>
              <a:t>Advisor:  Mr. Oren Ganon        Project No. 3363</a:t>
            </a:r>
          </a:p>
          <a:p>
            <a:pPr algn="ctr">
              <a:spcAft>
                <a:spcPts val="0"/>
              </a:spcAft>
              <a:buNone/>
            </a:pPr>
            <a:r>
              <a:rPr sz="1600" b="0">
                <a:solidFill>
                  <a:srgbClr val="555B66"/>
                </a:solidFill>
                <a:latin typeface="Calibri"/>
              </a:rPr>
              <a:t>Iby &amp; Aladar Fleischman Faculty of Engineering — Tel Aviv University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July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 wrap="square">
            <a:normAutofit fontScale="90000"/>
          </a:bodyPr>
          <a:lstStyle/>
          <a:p>
            <a:pPr algn="l"/>
            <a:r>
              <a:rPr b="1" sz="3000">
                <a:solidFill>
                  <a:srgbClr val="14305C"/>
                </a:solidFill>
                <a:latin typeface="Calibri"/>
              </a:rPr>
              <a:t>Motivation &amp; Goal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 wrap="square"/>
          <a:lstStyle/>
          <a:p>
            <a:pPr algn="l">
              <a:spcAft>
                <a:spcPts val="900"/>
              </a:spcAft>
            </a:pPr>
            <a:r>
              <a:rPr sz="2300">
                <a:solidFill>
                  <a:srgbClr val="222222"/>
                </a:solidFill>
                <a:latin typeface="Calibri"/>
              </a:rPr>
              <a:t>The NTT is the modular-arithmetic FFT — the inner loop of post-quantum (lattice) cryptography, homomorphic encryption, and zero-knowledge proofs, where millions of transforms are evaluated.</a:t>
            </a:r>
          </a:p>
          <a:p>
            <a:pPr algn="l">
              <a:spcAft>
                <a:spcPts val="900"/>
              </a:spcAft>
            </a:pPr>
            <a:r>
              <a:rPr sz="2300">
                <a:solidFill>
                  <a:srgbClr val="222222"/>
                </a:solidFill>
                <a:latin typeface="Calibri"/>
              </a:rPr>
              <a:t>Single-NTT latency and throughput set whole-system performance, and the transform is massively parallel → the GPU is the natural target.</a:t>
            </a:r>
          </a:p>
          <a:p>
            <a:pPr algn="l">
              <a:spcAft>
                <a:spcPts val="900"/>
              </a:spcAft>
            </a:pPr>
            <a:r>
              <a:rPr sz="2300">
                <a:solidFill>
                  <a:srgbClr val="222222"/>
                </a:solidFill>
                <a:latin typeface="Calibri"/>
              </a:rPr>
              <a:t>Goal: implement and optimize the NTT as architecture-aware CUDA kernels on an RTX 2080 Ti and beat the state-of-the-art GPU-NTT library on the same GPU.</a:t>
            </a:r>
          </a:p>
          <a:p>
            <a:pPr algn="l">
              <a:spcAft>
                <a:spcPts val="900"/>
              </a:spcAft>
            </a:pPr>
            <a:r>
              <a:rPr sz="2300">
                <a:solidFill>
                  <a:srgbClr val="222222"/>
                </a:solidFill>
                <a:latin typeface="Calibri"/>
              </a:rPr>
              <a:t>Every kernel is correctness-gated bit-exactly before it is timed.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July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 wrap="square">
            <a:normAutofit fontScale="90000"/>
          </a:bodyPr>
          <a:lstStyle/>
          <a:p>
            <a:pPr algn="l"/>
            <a:r>
              <a:rPr b="1" sz="3000">
                <a:solidFill>
                  <a:srgbClr val="14305C"/>
                </a:solidFill>
                <a:latin typeface="Calibri"/>
              </a:rPr>
              <a:t>Background: the NTT and its GPU bottlenecks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 wrap="square"/>
          <a:lstStyle/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Radix-2 Cooley–Tukey: log₂N butterfly stages; each butterfly = one modular multiply + a modular add/sub.</a:t>
            </a:r>
          </a:p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The modular multiply dominates the critical path (shortened by Barrett / Shoup reduction).</a:t>
            </a:r>
          </a:p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The binding bottleneck changes with the regime:</a:t>
            </a:r>
          </a:p>
          <a:p>
            <a:pPr lvl="1"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latency — small N</a:t>
            </a:r>
          </a:p>
          <a:p>
            <a:pPr lvl="1"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shared-memory bank conflicts — mid N</a:t>
            </a:r>
          </a:p>
          <a:p>
            <a:pPr lvl="1"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grid occupancy — large N, low batch</a:t>
            </a:r>
          </a:p>
          <a:p>
            <a:pPr lvl="1"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DRAM bandwidth — saturation</a:t>
            </a:r>
          </a:p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Key insight: no single kernel is optimal across all (N, batch).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July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 wrap="square">
            <a:normAutofit fontScale="90000"/>
          </a:bodyPr>
          <a:lstStyle/>
          <a:p>
            <a:pPr algn="l"/>
            <a:r>
              <a:rPr b="1" sz="3000">
                <a:solidFill>
                  <a:srgbClr val="14305C"/>
                </a:solidFill>
                <a:latin typeface="Calibri"/>
              </a:rPr>
              <a:t>Approach: specialize per regime, dispatch by measurement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0080" y="1234440"/>
            <a:ext cx="10972800" cy="1737360"/>
          </a:xfrm>
        </p:spPr>
        <p:txBody>
          <a:bodyPr wrap="square"/>
          <a:lstStyle/>
          <a:p>
            <a:pPr algn="l">
              <a:spcAft>
                <a:spcPts val="900"/>
              </a:spcAft>
            </a:pPr>
            <a:r>
              <a:rPr sz="2100">
                <a:solidFill>
                  <a:srgbClr val="222222"/>
                </a:solidFill>
                <a:latin typeface="Calibri"/>
              </a:rPr>
              <a:t>One specialized kernel per binding hardware constraint.</a:t>
            </a:r>
          </a:p>
          <a:p>
            <a:pPr algn="l">
              <a:spcAft>
                <a:spcPts val="900"/>
              </a:spcAft>
            </a:pPr>
            <a:r>
              <a:rPr sz="2100">
                <a:solidFill>
                  <a:srgbClr val="222222"/>
                </a:solidFill>
                <a:latin typeface="Calibri"/>
              </a:rPr>
              <a:t>A compiled table routes the measured-best backend per (N, batch) — lookup ≈ 1.25 ns.</a:t>
            </a:r>
          </a:p>
          <a:p>
            <a:pPr algn="l">
              <a:spcAft>
                <a:spcPts val="900"/>
              </a:spcAft>
            </a:pPr>
            <a:r>
              <a:rPr sz="2100">
                <a:solidFill>
                  <a:srgbClr val="222222"/>
                </a:solidFill>
                <a:latin typeface="Calibri"/>
              </a:rPr>
              <a:t>GPU-NTT is retained as a fallback, so the system is never worse than the reference library.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July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 descr="system_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123" y="2971800"/>
            <a:ext cx="647984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 wrap="square">
            <a:normAutofit fontScale="90000"/>
          </a:bodyPr>
          <a:lstStyle/>
          <a:p>
            <a:pPr algn="l"/>
            <a:r>
              <a:rPr b="1" sz="3000">
                <a:solidFill>
                  <a:srgbClr val="14305C"/>
                </a:solidFill>
                <a:latin typeface="Calibri"/>
              </a:rPr>
              <a:t>Four architecture-aware CUDA kernels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 wrap="square"/>
          <a:lstStyle/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Warp-shuffle + Shoup (N ≤ 1024): first 5 butterfly stages run in registers via __shfl_xor — no shared memory, no barriers (4.5 µs latency floor).</a:t>
            </a:r>
          </a:p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Padded shared memory (N = 2048–8192): one pad word per 32 elements → bank-conflict-free (up to 1.32×).</a:t>
            </a:r>
          </a:p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Multi-block 4-step (large N, low batch): splits one transform across all 68 SMs (up to 3.60× vs single-block).</a:t>
            </a:r>
          </a:p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Shoup modular multiply shortens the butterfly dependency chain — 0 register spills, 100% theoretical occupancy.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July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 wrap="square">
            <a:normAutofit fontScale="90000"/>
          </a:bodyPr>
          <a:lstStyle/>
          <a:p>
            <a:pPr algn="l"/>
            <a:r>
              <a:rPr b="1" sz="3000">
                <a:solidFill>
                  <a:srgbClr val="14305C"/>
                </a:solidFill>
                <a:latin typeface="Calibri"/>
              </a:rPr>
              <a:t>Results: head-to-head vs GPU-NTT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8640" y="1280160"/>
            <a:ext cx="4937760" cy="4572000"/>
          </a:xfrm>
        </p:spPr>
        <p:txBody>
          <a:bodyPr wrap="square"/>
          <a:lstStyle/>
          <a:p>
            <a:pPr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48 / 74 execution-verified cells won (tie in 4), up to 1.93×.</a:t>
            </a:r>
          </a:p>
          <a:p>
            <a:pPr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Strongest region: N ≤ 1024 at batches 1–2048 — the lattice-crypto sweet spot.</a:t>
            </a:r>
          </a:p>
          <a:p>
            <a:pPr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The selector is never worse than GPU-NTT (worst regret ≈ 5%).</a:t>
            </a:r>
          </a:p>
          <a:p>
            <a:pPr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GPU-NTT wins only the DRAM-saturated cells — routed back to it.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July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 descr="speedup_vs_gpu_ntt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554480"/>
            <a:ext cx="6217920" cy="327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 wrap="square">
            <a:normAutofit fontScale="90000"/>
          </a:bodyPr>
          <a:lstStyle/>
          <a:p>
            <a:pPr algn="l"/>
            <a:r>
              <a:rPr b="1" sz="3000">
                <a:solidFill>
                  <a:srgbClr val="14305C"/>
                </a:solidFill>
                <a:latin typeface="Calibri"/>
              </a:rPr>
              <a:t>Substantial, measured speedups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8640" y="1280160"/>
            <a:ext cx="4937760" cy="4572000"/>
          </a:xfrm>
        </p:spPr>
        <p:txBody>
          <a:bodyPr wrap="square"/>
          <a:lstStyle/>
          <a:p>
            <a:pPr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Up to 58.6× over an optimized C++ CPU baseline.</a:t>
            </a:r>
          </a:p>
          <a:p>
            <a:pPr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The custom kernel reaches 82% of peak memory bandwidth.</a:t>
            </a:r>
          </a:p>
          <a:p>
            <a:pPr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Peak 110.9 M transforms/second (N=256, batch 8192).</a:t>
            </a:r>
          </a:p>
          <a:p>
            <a:pPr algn="l"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Each optimization measured against its own baseline.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July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 descr="optimization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554480"/>
            <a:ext cx="6217920" cy="343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 wrap="square">
            <a:normAutofit fontScale="90000"/>
          </a:bodyPr>
          <a:lstStyle/>
          <a:p>
            <a:pPr algn="l"/>
            <a:r>
              <a:rPr b="1" sz="3000">
                <a:solidFill>
                  <a:srgbClr val="14305C"/>
                </a:solidFill>
                <a:latin typeface="Calibri"/>
              </a:rPr>
              <a:t>Conclusions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 wrap="square"/>
          <a:lstStyle/>
          <a:p>
            <a:pPr algn="l">
              <a:spcAft>
                <a:spcPts val="900"/>
              </a:spcAft>
            </a:pPr>
            <a:r>
              <a:rPr sz="2300">
                <a:solidFill>
                  <a:srgbClr val="222222"/>
                </a:solidFill>
                <a:latin typeface="Calibri"/>
              </a:rPr>
              <a:t>Architecture-aware mapping of the NTT onto the GPU produced large, measured speedups over both the CPU baseline and the previous GPU implementation.</a:t>
            </a:r>
          </a:p>
          <a:p>
            <a:pPr algn="l">
              <a:spcAft>
                <a:spcPts val="900"/>
              </a:spcAft>
            </a:pPr>
            <a:r>
              <a:rPr sz="2300">
                <a:solidFill>
                  <a:srgbClr val="222222"/>
                </a:solidFill>
                <a:latin typeface="Calibri"/>
              </a:rPr>
              <a:t>The adaptive runtime turns specialized kernels into a deployable system that is never slower than the state-of-the-art GPU-NTT library.</a:t>
            </a:r>
          </a:p>
          <a:p>
            <a:pPr algn="l">
              <a:spcAft>
                <a:spcPts val="900"/>
              </a:spcAft>
            </a:pPr>
            <a:r>
              <a:rPr sz="2300">
                <a:solidFill>
                  <a:srgbClr val="222222"/>
                </a:solidFill>
                <a:latin typeface="Calibri"/>
              </a:rPr>
              <a:t>Correctness was never traded for speed — the transform convention was formally verified and natural-order output is an explicit feature.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July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 wrap="square">
            <a:normAutofit fontScale="90000"/>
          </a:bodyPr>
          <a:lstStyle/>
          <a:p>
            <a:pPr algn="l"/>
            <a:r>
              <a:rPr b="1" sz="3000">
                <a:solidFill>
                  <a:srgbClr val="14305C"/>
                </a:solidFill>
                <a:latin typeface="Calibri"/>
              </a:rPr>
              <a:t>Future 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 wrap="square"/>
          <a:lstStyle/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Persistent small-N megakernel to push past the kernel-launch floor.</a:t>
            </a:r>
          </a:p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sm_80+ cp.async double-buffered padded kernel; evaluate the integer tensor-core path.</a:t>
            </a:r>
          </a:p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Self-calibrating dispatch table that re-profiles automatically on a new GPU.</a:t>
            </a:r>
          </a:p>
          <a:p>
            <a:pPr algn="l">
              <a:spcAft>
                <a:spcPts val="9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Full ML-KEM / Kyber pipeline — a preliminary case study already shows a 12.3× arithmetic-core improvement.</a:t>
            </a:r>
          </a:p>
          <a:p>
            <a:pPr>
              <a:spcBef>
                <a:spcPts val="1400"/>
              </a:spcBef>
            </a:pPr>
            <a:r>
              <a:rPr b="1" sz="2400">
                <a:solidFill>
                  <a:srgbClr val="1C8A8A"/>
                </a:solidFill>
                <a:latin typeface="Calibri"/>
              </a:rPr>
              <a:t>Thank you!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July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TAU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Fainguelernt</dc:creator>
  <cp:lastModifiedBy>Jacob Fainguelernt</cp:lastModifiedBy>
  <cp:revision>2</cp:revision>
  <dcterms:created xsi:type="dcterms:W3CDTF">2021-12-15T06:30:50Z</dcterms:created>
  <dcterms:modified xsi:type="dcterms:W3CDTF">2021-12-15T06:32:04Z</dcterms:modified>
</cp:coreProperties>
</file>