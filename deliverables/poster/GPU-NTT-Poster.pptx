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Microsoft_Word_Document.docx" ContentType="application/vnd.openxmlformats-officedocument.wordprocessingml.document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56" r:id="rId5"/>
  </p:sldIdLst>
  <p:sldSz cx="359997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BAEE"/>
    <a:srgbClr val="F5F5F5"/>
    <a:srgbClr val="E3E3E3"/>
    <a:srgbClr val="DEDEDE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75"/>
  </p:normalViewPr>
  <p:slideViewPr>
    <p:cSldViewPr snapToGrid="0">
      <p:cViewPr>
        <p:scale>
          <a:sx n="33" d="100"/>
          <a:sy n="33" d="100"/>
        </p:scale>
        <p:origin x="1044" y="-58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4124164"/>
            <a:ext cx="30599777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3235822"/>
            <a:ext cx="26999804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0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6282501"/>
            <a:ext cx="31049774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16864157"/>
            <a:ext cx="31049774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82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82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341671"/>
            <a:ext cx="31049774" cy="487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6177496"/>
            <a:ext cx="15229574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9204991"/>
            <a:ext cx="15229574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6177496"/>
            <a:ext cx="15304578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9204991"/>
            <a:ext cx="15304578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5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628335"/>
            <a:ext cx="18224867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628335"/>
            <a:ext cx="18224867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7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341665"/>
            <a:ext cx="7762444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341665"/>
            <a:ext cx="22837334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48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341671"/>
            <a:ext cx="31049774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6708326"/>
            <a:ext cx="31049774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3356649"/>
            <a:ext cx="1214991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emf"/><Relationship Id="rId10" Type="http://schemas.openxmlformats.org/officeDocument/2006/relationships/package" Target="../embeddings/Microsoft_Word_Document.docx"/><Relationship Id="rId11" Type="http://schemas.openxmlformats.org/officeDocument/2006/relationships/image" Target="../media/image9.emf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EA173A7C-98D4-662B-E91A-3ACB122111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078827" y="12725249"/>
            <a:ext cx="11752653" cy="12455090"/>
          </a:xfrm>
          <a:custGeom>
            <a:avLst/>
            <a:gdLst>
              <a:gd name="connsiteX0" fmla="*/ 0 w 8312682"/>
              <a:gd name="connsiteY0" fmla="*/ 0 h 8809518"/>
              <a:gd name="connsiteX1" fmla="*/ 8312682 w 8312682"/>
              <a:gd name="connsiteY1" fmla="*/ 0 h 8809518"/>
              <a:gd name="connsiteX2" fmla="*/ 8248871 w 8312682"/>
              <a:gd name="connsiteY2" fmla="*/ 357325 h 8809518"/>
              <a:gd name="connsiteX3" fmla="*/ 264970 w 8312682"/>
              <a:gd name="connsiteY3" fmla="*/ 8748363 h 8809518"/>
              <a:gd name="connsiteX4" fmla="*/ 0 w 8312682"/>
              <a:gd name="connsiteY4" fmla="*/ 8809518 h 880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2682" h="8809518">
                <a:moveTo>
                  <a:pt x="0" y="0"/>
                </a:moveTo>
                <a:lnTo>
                  <a:pt x="8312682" y="0"/>
                </a:lnTo>
                <a:lnTo>
                  <a:pt x="8248871" y="357325"/>
                </a:lnTo>
                <a:cubicBezTo>
                  <a:pt x="7410895" y="4452411"/>
                  <a:pt x="4284949" y="7714069"/>
                  <a:pt x="264970" y="8748363"/>
                </a:cubicBezTo>
                <a:lnTo>
                  <a:pt x="0" y="8809518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37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B3848E-C944-BA94-F84E-17ACF958EB4A}"/>
              </a:ext>
            </a:extLst>
          </p:cNvPr>
          <p:cNvSpPr>
            <a:spLocks/>
          </p:cNvSpPr>
          <p:nvPr/>
        </p:nvSpPr>
        <p:spPr>
          <a:xfrm>
            <a:off x="24029965" y="5703864"/>
            <a:ext cx="11160000" cy="17828842"/>
          </a:xfrm>
          <a:prstGeom prst="rect">
            <a:avLst/>
          </a:prstGeom>
          <a:solidFill>
            <a:srgbClr val="F5F5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2519995">
              <a:defRPr/>
            </a:pPr>
            <a:endParaRPr lang="en-US" sz="3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1BDC1F-4253-93BE-E909-D2E3E16B33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4" y="23773252"/>
            <a:ext cx="35651367" cy="1407088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16CA00FE-82B9-8932-EFAB-2706DD59754C}"/>
              </a:ext>
            </a:extLst>
          </p:cNvPr>
          <p:cNvSpPr>
            <a:spLocks/>
          </p:cNvSpPr>
          <p:nvPr/>
        </p:nvSpPr>
        <p:spPr>
          <a:xfrm>
            <a:off x="185731" y="5039"/>
            <a:ext cx="11752653" cy="12455090"/>
          </a:xfrm>
          <a:custGeom>
            <a:avLst/>
            <a:gdLst>
              <a:gd name="connsiteX0" fmla="*/ 0 w 8312682"/>
              <a:gd name="connsiteY0" fmla="*/ 0 h 8809518"/>
              <a:gd name="connsiteX1" fmla="*/ 8312682 w 8312682"/>
              <a:gd name="connsiteY1" fmla="*/ 0 h 8809518"/>
              <a:gd name="connsiteX2" fmla="*/ 8248871 w 8312682"/>
              <a:gd name="connsiteY2" fmla="*/ 357325 h 8809518"/>
              <a:gd name="connsiteX3" fmla="*/ 264970 w 8312682"/>
              <a:gd name="connsiteY3" fmla="*/ 8748363 h 8809518"/>
              <a:gd name="connsiteX4" fmla="*/ 0 w 8312682"/>
              <a:gd name="connsiteY4" fmla="*/ 8809518 h 880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2682" h="8809518">
                <a:moveTo>
                  <a:pt x="0" y="0"/>
                </a:moveTo>
                <a:lnTo>
                  <a:pt x="8312682" y="0"/>
                </a:lnTo>
                <a:lnTo>
                  <a:pt x="8248871" y="357325"/>
                </a:lnTo>
                <a:cubicBezTo>
                  <a:pt x="7410895" y="4452411"/>
                  <a:pt x="4284949" y="7714069"/>
                  <a:pt x="264970" y="8748363"/>
                </a:cubicBezTo>
                <a:lnTo>
                  <a:pt x="0" y="8809518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46357" rtl="1"/>
            <a:endParaRPr lang="en-US" sz="3037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EDB904-F567-0976-A615-296E3DFB021F}"/>
              </a:ext>
            </a:extLst>
          </p:cNvPr>
          <p:cNvGrpSpPr/>
          <p:nvPr/>
        </p:nvGrpSpPr>
        <p:grpSpPr>
          <a:xfrm>
            <a:off x="185731" y="18722"/>
            <a:ext cx="35651367" cy="1407088"/>
            <a:chOff x="185731" y="18722"/>
            <a:chExt cx="35651367" cy="14070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0D1D2B-CD74-3EC0-1A7E-DD2823DA6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731" y="18722"/>
              <a:ext cx="35651367" cy="140708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5350F39-C37A-6532-34D2-E7EA62778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408874" y="257838"/>
              <a:ext cx="3655103" cy="928853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FF67915-D1F3-C9D7-C6EC-4FD70CFE9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5764" y="181120"/>
              <a:ext cx="5796815" cy="1005571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4EFAB-AB8C-CA28-1D50-48A1B49E8B20}"/>
              </a:ext>
            </a:extLst>
          </p:cNvPr>
          <p:cNvSpPr>
            <a:spLocks/>
          </p:cNvSpPr>
          <p:nvPr/>
        </p:nvSpPr>
        <p:spPr>
          <a:xfrm>
            <a:off x="809778" y="1440891"/>
            <a:ext cx="34403273" cy="392103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46357" rtl="1"/>
            <a:endParaRPr lang="en-US" sz="30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C5E95-292C-ABA8-58EF-6AEFEBCEF01C}"/>
              </a:ext>
            </a:extLst>
          </p:cNvPr>
          <p:cNvSpPr txBox="1">
            <a:spLocks/>
          </p:cNvSpPr>
          <p:nvPr/>
        </p:nvSpPr>
        <p:spPr>
          <a:xfrm>
            <a:off x="809779" y="1578118"/>
            <a:ext cx="34380186" cy="1267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634" b="1" dirty="0">
                <a:solidFill>
                  <a:srgbClr val="F5F5F5"/>
                </a:solidFill>
                <a:latin typeface="Georgia" panose="02040502050405020303" pitchFamily="18" charset="0"/>
              </a:rPr>
              <a:t>GPU-Accelerated Number Theoretic Transform (NTT)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6FB1D-CB3A-ADB9-F137-C4249CAB9851}"/>
              </a:ext>
            </a:extLst>
          </p:cNvPr>
          <p:cNvSpPr txBox="1">
            <a:spLocks/>
          </p:cNvSpPr>
          <p:nvPr/>
        </p:nvSpPr>
        <p:spPr>
          <a:xfrm>
            <a:off x="8487505" y="2765365"/>
            <a:ext cx="18390794" cy="1658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Kareem Bwakny,  Hakeem Najjar</a:t>
            </a:r>
            <a:endParaRPr lang="he-IL" sz="4000" dirty="0">
              <a:cs typeface="Open Sans Hebrew" panose="00000500000000000000" pitchFamily="2" charset="-79"/>
            </a:endParaRPr>
          </a:p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Advisor: Mr. Oren Ganon</a:t>
            </a:r>
            <a:r>
              <a:rPr lang="he-IL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endParaRPr lang="he-IL" sz="5089" b="1" dirty="0">
              <a:solidFill>
                <a:srgbClr val="E3E3E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0E0FC3-54B6-7A22-6620-BBA9DC55242F}"/>
              </a:ext>
            </a:extLst>
          </p:cNvPr>
          <p:cNvSpPr>
            <a:spLocks/>
          </p:cNvSpPr>
          <p:nvPr/>
        </p:nvSpPr>
        <p:spPr>
          <a:xfrm>
            <a:off x="827246" y="5658025"/>
            <a:ext cx="11160000" cy="17828842"/>
          </a:xfrm>
          <a:prstGeom prst="rect">
            <a:avLst/>
          </a:prstGeom>
          <a:solidFill>
            <a:srgbClr val="F5F5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37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AAB24-095F-B78F-4B9B-B1818F11F683}"/>
              </a:ext>
            </a:extLst>
          </p:cNvPr>
          <p:cNvSpPr>
            <a:spLocks/>
          </p:cNvSpPr>
          <p:nvPr/>
        </p:nvSpPr>
        <p:spPr>
          <a:xfrm>
            <a:off x="12379743" y="5690835"/>
            <a:ext cx="11160000" cy="17828842"/>
          </a:xfrm>
          <a:prstGeom prst="rect">
            <a:avLst/>
          </a:prstGeom>
          <a:solidFill>
            <a:srgbClr val="F5F5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37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E7048A-0105-0DB4-1E9E-8A43F18ADB4F}"/>
              </a:ext>
            </a:extLst>
          </p:cNvPr>
          <p:cNvSpPr txBox="1">
            <a:spLocks/>
          </p:cNvSpPr>
          <p:nvPr/>
        </p:nvSpPr>
        <p:spPr>
          <a:xfrm>
            <a:off x="9121439" y="4364259"/>
            <a:ext cx="18390794" cy="875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Number: 3363</a:t>
            </a:r>
            <a:r>
              <a:rPr lang="en-US" sz="395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80160" y="5897880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12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400">
                <a:solidFill>
                  <a:srgbClr val="FFFFFF"/>
                </a:solidFill>
                <a:latin typeface="Georgia"/>
              </a:rPr>
              <a:t>Introduction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6976872"/>
            <a:ext cx="10241280" cy="3017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>
                <a:solidFill>
                  <a:srgbClr val="222428"/>
                </a:solidFill>
                <a:latin typeface="Calibri"/>
              </a:rPr>
              <a:t>The Number Theoretic Transform (NTT) is the modular-arithmetic analogue of the FFT and the computational core of post-quantum (lattice) cryptography, homomorphic encryption, and zero-knowledge proofs — workloads that evaluate millions of transforms.</a:t>
            </a:r>
          </a:p>
          <a:p>
            <a:pPr algn="l">
              <a:spcAft>
                <a:spcPts val="1000"/>
              </a:spcAft>
            </a:pPr>
            <a:r>
              <a:rPr sz="2500">
                <a:solidFill>
                  <a:srgbClr val="222428"/>
                </a:solidFill>
                <a:latin typeface="Calibri"/>
              </a:rPr>
              <a:t>Goal: implement and optimize the NTT as a family of architecture-aware CUDA kernels on an NVIDIA RTX 2080 Ti (Turing, sm_75), tuning each problem regime for the specific hardware limit that binds it.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0160" y="10104119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400">
                <a:solidFill>
                  <a:srgbClr val="FFFFFF"/>
                </a:solidFill>
                <a:latin typeface="Georgia"/>
              </a:rPr>
              <a:t>Motivation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11183111"/>
            <a:ext cx="1024128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>
                <a:solidFill>
                  <a:srgbClr val="222428"/>
                </a:solidFill>
                <a:latin typeface="Calibri"/>
              </a:rPr>
              <a:t>Single-NTT latency and throughput set whole-system performance. Crucially, no single kernel is optimal across all sizes — the binding hardware limit changes with the (size, batch) regime:</a:t>
            </a:r>
          </a:p>
          <a:p>
            <a:pPr algn="l">
              <a:spcAft>
                <a:spcPts val="1000"/>
              </a:spcAft>
            </a:pPr>
            <a:r>
              <a:rPr sz="2500">
                <a:solidFill>
                  <a:srgbClr val="222428"/>
                </a:solidFill>
                <a:latin typeface="Calibri"/>
              </a:rPr>
              <a:t>▸  latency · bank conflicts · synchronization barriers · grid occupancy · DRAM bandwidth.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0160" y="13761719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12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400">
                <a:solidFill>
                  <a:srgbClr val="FFFFFF"/>
                </a:solidFill>
                <a:latin typeface="Georgia"/>
              </a:rPr>
              <a:t>System architecture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70431" y="14749271"/>
            <a:ext cx="10460736" cy="81965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ipeline_arch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14858999"/>
            <a:ext cx="10241280" cy="797705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280160" y="22881771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500">
                <a:solidFill>
                  <a:srgbClr val="5A606A"/>
                </a:solidFill>
                <a:latin typeface="Calibri"/>
              </a:rPr>
              <a:t>Fig. 1 — end-to-end pipeline; the GPU stage is opened to its memory hierarchy and per-regime on-chip dataflow.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801600" y="5897880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12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400">
                <a:solidFill>
                  <a:srgbClr val="FFFFFF"/>
                </a:solidFill>
                <a:latin typeface="Georgia"/>
              </a:rPr>
              <a:t>Implementation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0" y="6976872"/>
            <a:ext cx="1024128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222428"/>
                </a:solidFill>
                <a:latin typeface="Calibri"/>
              </a:rPr>
              <a:t>▸  Warp-shuffle + Shoup (N ≤ 1024): early butterfly stages run in registers via __shfl_xor — no shared memory, no barriers (4.5 µs latency floor).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222428"/>
                </a:solidFill>
                <a:latin typeface="Calibri"/>
              </a:rPr>
              <a:t>▸  Padded shared memory (N = 2048–8192): one pad word per 32 elements → bank-conflict-free; radix-8 butterflies cut synchronization barriers 13 → 5.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222428"/>
                </a:solidFill>
                <a:latin typeface="Calibri"/>
              </a:rPr>
              <a:t>▸  Multi-block 4-step (large N, low batch): one transform across all 68 SMs; a radix-4 + coalescing rewrite adds 1.65×, extending cleanly to N = 16384.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222428"/>
                </a:solidFill>
                <a:latin typeface="Calibri"/>
              </a:rPr>
              <a:t>▸  Fused polynomial multiply (NTT → pointwise → INTT): one kernel replaces four, cutting DRAM traffic 9N → 3N words.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222428"/>
                </a:solidFill>
                <a:latin typeface="Calibri"/>
              </a:rPr>
              <a:t>▸  Compiled adaptive selector routes the measured-best kernel per (N, batch); 0 register spills.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801600" y="10561319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400">
                <a:solidFill>
                  <a:srgbClr val="FFFFFF"/>
                </a:solidFill>
                <a:latin typeface="Georgia"/>
              </a:rPr>
              <a:t>Results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801600" y="11612880"/>
            <a:ext cx="3328416" cy="1920240"/>
          </a:xfrm>
          <a:prstGeom prst="roundRect">
            <a:avLst>
              <a:gd name="adj" fmla="val 10000"/>
            </a:avLst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200">
                <a:solidFill>
                  <a:srgbClr val="FFFFFF"/>
                </a:solidFill>
                <a:latin typeface="Georgia"/>
              </a:rPr>
              <a:t>2.12×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vs existing models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258032" y="11612880"/>
            <a:ext cx="3328416" cy="1920240"/>
          </a:xfrm>
          <a:prstGeom prst="roundRect">
            <a:avLst>
              <a:gd name="adj" fmla="val 10000"/>
            </a:avLst>
          </a:prstGeom>
          <a:solidFill>
            <a:srgbClr val="12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200">
                <a:solidFill>
                  <a:srgbClr val="FFFFFF"/>
                </a:solidFill>
                <a:latin typeface="Georgia"/>
              </a:rPr>
              <a:t>58.6×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vs optimized C++ CPU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9714464" y="11612880"/>
            <a:ext cx="3328416" cy="1920240"/>
          </a:xfrm>
          <a:prstGeom prst="roundRect">
            <a:avLst>
              <a:gd name="adj" fmla="val 10000"/>
            </a:avLst>
          </a:prstGeom>
          <a:solidFill>
            <a:srgbClr val="12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200">
                <a:solidFill>
                  <a:srgbClr val="FFFFFF"/>
                </a:solidFill>
                <a:latin typeface="Georgia"/>
              </a:rPr>
              <a:t>86%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of DRAM roofline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801600" y="13670280"/>
            <a:ext cx="3328416" cy="1920240"/>
          </a:xfrm>
          <a:prstGeom prst="roundRect">
            <a:avLst>
              <a:gd name="adj" fmla="val 10000"/>
            </a:avLst>
          </a:prstGeom>
          <a:solidFill>
            <a:srgbClr val="12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600">
                <a:solidFill>
                  <a:srgbClr val="FFFFFF"/>
                </a:solidFill>
                <a:latin typeface="Georgia"/>
              </a:rPr>
              <a:t>110.9 M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transforms / s (peak)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258032" y="13670280"/>
            <a:ext cx="3328416" cy="1920240"/>
          </a:xfrm>
          <a:prstGeom prst="roundRect">
            <a:avLst>
              <a:gd name="adj" fmla="val 10000"/>
            </a:avLst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200">
                <a:solidFill>
                  <a:srgbClr val="FFFFFF"/>
                </a:solidFill>
                <a:latin typeface="Georgia"/>
              </a:rPr>
              <a:t>4.5 µs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small-N latency floor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9714464" y="13670280"/>
            <a:ext cx="3328416" cy="1920240"/>
          </a:xfrm>
          <a:prstGeom prst="roundRect">
            <a:avLst>
              <a:gd name="adj" fmla="val 10000"/>
            </a:avLst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000">
                <a:solidFill>
                  <a:srgbClr val="FFFFFF"/>
                </a:solidFill>
                <a:latin typeface="Georgia"/>
              </a:rPr>
              <a:t>74/74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configs bit-exact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505920" y="5897880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12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400">
                <a:solidFill>
                  <a:srgbClr val="FFFFFF"/>
                </a:solidFill>
                <a:latin typeface="Georgia"/>
              </a:rPr>
              <a:t>Performance analysis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356312" y="6885432"/>
            <a:ext cx="8540496" cy="515993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roofline_post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66040" y="6995160"/>
            <a:ext cx="8321040" cy="494047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466040" y="11981354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500">
                <a:solidFill>
                  <a:srgbClr val="5A606A"/>
                </a:solidFill>
                <a:latin typeface="Calibri"/>
              </a:rPr>
              <a:t>Fig. 3 — every measured size sits at 66–86% of the achieved DRAM roofline: memory-bound and saturated.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4505920" y="12484274"/>
            <a:ext cx="10241280" cy="914400"/>
          </a:xfrm>
          <a:prstGeom prst="roundRect">
            <a:avLst>
              <a:gd name="adj" fmla="val 14000"/>
            </a:avLst>
          </a:prstGeom>
          <a:solidFill>
            <a:srgbClr val="12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400">
                <a:solidFill>
                  <a:srgbClr val="FFFFFF"/>
                </a:solidFill>
                <a:latin typeface="Georgia"/>
              </a:rPr>
              <a:t>Conclusions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505920" y="13526690"/>
            <a:ext cx="1024128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222428"/>
                </a:solidFill>
                <a:latin typeface="Calibri"/>
              </a:rPr>
              <a:t>The NTT meets a chain of distinct hardware limits — barrier count (radix-4/8), then barrier cost (block size), then twiddle-table footprint (Montgomery at large N). Each regime is bound by a different resource, so specialization is necessary and the selector makes it automatic.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505920" y="14934866"/>
            <a:ext cx="10241280" cy="1371600"/>
          </a:xfrm>
          <a:prstGeom prst="roundRect">
            <a:avLst>
              <a:gd name="adj" fmla="val 8000"/>
            </a:avLst>
          </a:prstGeom>
          <a:solidFill>
            <a:srgbClr val="12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b="1" sz="2200">
                <a:solidFill>
                  <a:srgbClr val="FFFFFF"/>
                </a:solidFill>
                <a:latin typeface="Georgia"/>
              </a:rPr>
              <a:t>Future work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INT8 tensor-core sub-transforms · Nsight profiling · persistent small-N megakernel · self-calibrating dispatch · full ML-KEM pipeline.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5435072" y="16297372"/>
            <a:ext cx="16678655" cy="653519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transforms_per_second_v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44800" y="16407100"/>
            <a:ext cx="16459200" cy="631574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5544800" y="22768560"/>
            <a:ext cx="1645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500">
                <a:solidFill>
                  <a:srgbClr val="5A606A"/>
                </a:solidFill>
                <a:latin typeface="Calibri"/>
              </a:rPr>
              <a:t>Fig. 2 — throughput (transforms/s) vs batch size for each N; the DRAM-saturation knees are visible across the grid.</a:t>
            </a:r>
          </a:p>
        </p:txBody>
      </p:sp>
    </p:spTree>
    <p:extLst>
      <p:ext uri="{BB962C8B-B14F-4D97-AF65-F5344CB8AC3E}">
        <p14:creationId xmlns:p14="http://schemas.microsoft.com/office/powerpoint/2010/main" val="211949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4e0735-f53f-4baa-bd75-b10ae3a2bbd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894B321F97984089F660A1B37BD856" ma:contentTypeVersion="8" ma:contentTypeDescription="Create a new document." ma:contentTypeScope="" ma:versionID="69f2837f18e45e11aaa12c857e6c5827">
  <xsd:schema xmlns:xsd="http://www.w3.org/2001/XMLSchema" xmlns:xs="http://www.w3.org/2001/XMLSchema" xmlns:p="http://schemas.microsoft.com/office/2006/metadata/properties" xmlns:ns3="844e0735-f53f-4baa-bd75-b10ae3a2bbdb" targetNamespace="http://schemas.microsoft.com/office/2006/metadata/properties" ma:root="true" ma:fieldsID="44cfe3dd05ba74ef950c29cbe3f766ab" ns3:_="">
    <xsd:import namespace="844e0735-f53f-4baa-bd75-b10ae3a2bb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e0735-f53f-4baa-bd75-b10ae3a2bb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713F10-82D8-4B91-A273-2BA44EB6FF7B}">
  <ds:schemaRefs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44e0735-f53f-4baa-bd75-b10ae3a2bbd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AADE9C2-8609-4046-AFB7-2D78D2E367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3E978F-3A35-4737-8BBB-B7BB0C7F7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4e0735-f53f-4baa-bd75-b10ae3a2b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539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Georgia</vt:lpstr>
      <vt:lpstr>Open Sans Hebrew</vt:lpstr>
      <vt:lpstr>Tahoma</vt:lpstr>
      <vt:lpstr>Office Theme</vt:lpstr>
      <vt:lpstr>Document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Ost</dc:creator>
  <cp:lastModifiedBy>Roi Raich</cp:lastModifiedBy>
  <cp:revision>17</cp:revision>
  <dcterms:created xsi:type="dcterms:W3CDTF">2025-05-10T11:28:38Z</dcterms:created>
  <dcterms:modified xsi:type="dcterms:W3CDTF">2025-12-25T08:50:52Z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0x01010063894B321F97984089F660A1B37BD856</vt:lpwstr>
  </property>
</Properties>
</file>